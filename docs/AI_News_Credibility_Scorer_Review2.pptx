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4"/>
  </p:sldMasterIdLst>
  <p:notesMasterIdLst>
    <p:notesMasterId r:id="rId16"/>
  </p:notesMasterIdLst>
  <p:sldIdLst>
    <p:sldId id="274" r:id="rId5"/>
    <p:sldId id="256" r:id="rId6"/>
    <p:sldId id="257" r:id="rId7"/>
    <p:sldId id="269" r:id="rId8"/>
    <p:sldId id="275" r:id="rId14"/>
    <p:sldId id="276" r:id="rId15"/>
    <p:sldId id="277" r:id="rId13"/>
    <p:sldId id="278" r:id="rId12"/>
    <p:sldId id="279" r:id="rId11"/>
    <p:sldId id="280" r:id="rId10"/>
    <p:sldId id="281" r:id="rId9"/>
    <p:sldId id="282" r:id="rId21"/>
    <p:sldId id="283" r:id="rId22"/>
    <p:sldId id="284" r:id="rId23"/>
    <p:sldId id="285" r:id="rId24"/>
    <p:sldId id="286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57690726-49DA-4552-BDEB-330DD8EA8BD9}" styleName="Table_0">
    <a:wholeTbl>
      <a:tcTxStyle b="off" i="off">
        <a:font>
          <a:latin typeface="Bookman Old Style"/>
          <a:ea typeface="Bookman Old Style"/>
          <a:cs typeface="Bookman Old Style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9.xml"/><Relationship Id="rId12" Type="http://schemas.openxmlformats.org/officeDocument/2006/relationships/slide" Target="slides/slide8.xml"/><Relationship Id="rId13" Type="http://schemas.openxmlformats.org/officeDocument/2006/relationships/slide" Target="slides/slide7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169620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4080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244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29114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50877" y="132238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2032000" y="3326641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  <a:defRPr sz="2000" b="1">
                <a:solidFill>
                  <a:srgbClr val="17365D"/>
                </a:solidFill>
              </a:defRPr>
            </a:lvl1pPr>
            <a:lvl2pPr lvl="1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>
                <a:solidFill>
                  <a:schemeClr val="dk1"/>
                </a:solidFill>
              </a:defRPr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>
                <a:solidFill>
                  <a:schemeClr val="dk1"/>
                </a:solidFill>
              </a:defRPr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Verdana"/>
              <a:buNone/>
              <a:defRPr sz="4000" b="1" cap="none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9368" y="304800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3860800" y="274638"/>
            <a:ext cx="772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" name="Google Shape;52;p7" descr="C:\Users\AMMU\Desktop\Border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05209" y="139874"/>
            <a:ext cx="9686793" cy="698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 rot="5400000">
            <a:off x="3670300" y="-1714499"/>
            <a:ext cx="4953000" cy="106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 rot="5400000">
            <a:off x="7285050" y="1828791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59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A50E9A-5B29-3F48-C37D-89C17238E2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91275"/>
            <a:ext cx="12192000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158555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FF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1" name="Google Shape;11;p1"/>
          <p:cNvCxnSpPr/>
          <p:nvPr/>
        </p:nvCxnSpPr>
        <p:spPr>
          <a:xfrm>
            <a:off x="812800" y="914400"/>
            <a:ext cx="10668000" cy="0"/>
          </a:xfrm>
          <a:prstGeom prst="straightConnector1">
            <a:avLst/>
          </a:prstGeom>
          <a:noFill/>
          <a:ln w="57150" cap="flat" cmpd="thickThin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" name="Google Shape;12;p1"/>
          <p:cNvPicPr preferRelativeResize="0"/>
          <p:nvPr/>
        </p:nvPicPr>
        <p:blipFill rotWithShape="1">
          <a:blip r:embed="rId14">
            <a:alphaModFix/>
          </a:blip>
          <a:srcRect b="18046"/>
          <a:stretch/>
        </p:blipFill>
        <p:spPr>
          <a:xfrm>
            <a:off x="0" y="5991366"/>
            <a:ext cx="12192001" cy="86663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11BAA27-C0F4-A466-A09B-15D5201C28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1" name="Rectangle 1"/>
          <p:cNvSpPr/>
          <p:nvPr/>
        </p:nvSpPr>
        <p:spPr>
          <a:xfrm>
            <a:off x="0" y="380240"/>
            <a:ext cx="12192000" cy="6966857"/>
          </a:xfrm>
          <a:prstGeom prst="rect">
            <a:avLst/>
          </a:prstGeom>
          <a:solidFill>
            <a:srgbClr val="002F5E">
              <a:alpha val="74902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>
              <a:latin typeface="+mj-lt"/>
            </a:endParaRPr>
          </a:p>
        </p:txBody>
      </p:sp>
      <p:sp>
        <p:nvSpPr>
          <p:cNvPr id="200" name="TextBox 5"/>
          <p:cNvSpPr txBox="1">
            <a:spLocks noGrp="1"/>
          </p:cNvSpPr>
          <p:nvPr>
            <p:ph type="sldNum" sz="quarter" idx="2"/>
          </p:nvPr>
        </p:nvSpPr>
        <p:spPr>
          <a:xfrm>
            <a:off x="11396678" y="454968"/>
            <a:ext cx="162863" cy="24622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</a:t>
            </a:fld>
            <a:endParaRPr/>
          </a:p>
        </p:txBody>
      </p:sp>
      <p:sp>
        <p:nvSpPr>
          <p:cNvPr id="202" name="TextBox 2"/>
          <p:cNvSpPr txBox="1"/>
          <p:nvPr/>
        </p:nvSpPr>
        <p:spPr>
          <a:xfrm>
            <a:off x="567271" y="2277410"/>
            <a:ext cx="11390486" cy="1862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defRPr sz="17300" b="1">
                <a:solidFill>
                  <a:srgbClr val="188CFF">
                    <a:alpha val="15000"/>
                  </a:srgbClr>
                </a:solidFill>
                <a:effectLst>
                  <a:outerShdw blurRad="127000" rotWithShape="0">
                    <a:srgbClr val="000000">
                      <a:alpha val="10000"/>
                    </a:srgbClr>
                  </a:outerShdw>
                </a:effectLst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sz="11500" dirty="0">
                <a:latin typeface="+mj-lt"/>
              </a:rPr>
              <a:t>Presidency</a:t>
            </a:r>
            <a:endParaRPr sz="13800" dirty="0">
              <a:latin typeface="+mj-lt"/>
            </a:endParaRPr>
          </a:p>
        </p:txBody>
      </p:sp>
      <p:sp>
        <p:nvSpPr>
          <p:cNvPr id="203" name="TextBox 3"/>
          <p:cNvSpPr txBox="1"/>
          <p:nvPr/>
        </p:nvSpPr>
        <p:spPr>
          <a:xfrm>
            <a:off x="1573968" y="3788227"/>
            <a:ext cx="8724276" cy="496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lnSpc>
                <a:spcPct val="150000"/>
              </a:lnSpc>
              <a:defRPr sz="1600" spc="300">
                <a:solidFill>
                  <a:srgbClr val="FFFFFF"/>
                </a:solidFill>
              </a:defRPr>
            </a:lvl1pPr>
          </a:lstStyle>
          <a:p>
            <a:r>
              <a:rPr lang="en-IN" sz="2000" dirty="0">
                <a:latin typeface="+mj-lt"/>
              </a:rPr>
              <a:t>School of Artificial Intelligence and Advanced Computing</a:t>
            </a:r>
            <a:endParaRPr sz="2000" dirty="0">
              <a:latin typeface="+mj-lt"/>
            </a:endParaRPr>
          </a:p>
        </p:txBody>
      </p:sp>
      <p:sp>
        <p:nvSpPr>
          <p:cNvPr id="205" name="Rectangle 11"/>
          <p:cNvSpPr/>
          <p:nvPr/>
        </p:nvSpPr>
        <p:spPr>
          <a:xfrm>
            <a:off x="609600" y="380240"/>
            <a:ext cx="45719" cy="305561"/>
          </a:xfrm>
          <a:prstGeom prst="rect">
            <a:avLst/>
          </a:prstGeom>
          <a:solidFill>
            <a:srgbClr val="F39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BBA17B-3BC2-6BF3-E9AA-D4BFBC2AD5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83" y="380240"/>
            <a:ext cx="1378341" cy="2987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9FE14F-095F-73F1-B975-3CCBF67C0C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40771"/>
            <a:ext cx="12192000" cy="469900"/>
          </a:xfrm>
          <a:prstGeom prst="rect">
            <a:avLst/>
          </a:prstGeom>
        </p:spPr>
      </p:pic>
      <p:sp>
        <p:nvSpPr>
          <p:cNvPr id="13" name="TextBox 5"/>
          <p:cNvSpPr txBox="1"/>
          <p:nvPr/>
        </p:nvSpPr>
        <p:spPr>
          <a:xfrm>
            <a:off x="2114624" y="2392826"/>
            <a:ext cx="8295781" cy="163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defRPr sz="10000" b="1">
                <a:solidFill>
                  <a:srgbClr val="FFFFFF"/>
                </a:solidFill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dirty="0">
                <a:latin typeface="+mj-lt"/>
              </a:rPr>
              <a:t>Presidency</a:t>
            </a:r>
            <a:endParaRPr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6604809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>
            <a:spLocks noGrp="1"/>
          </p:cNvSpPr>
          <p:nvPr>
            <p:ph type="ctrTitle"/>
          </p:nvPr>
        </p:nvSpPr>
        <p:spPr>
          <a:xfrm>
            <a:off x="790469" y="1069102"/>
            <a:ext cx="10363200" cy="962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t>TruthLens: AI-Powered Real-Time News Credibility Scorer</a:t>
            </a:r>
            <a:endParaRPr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790469" y="2100770"/>
            <a:ext cx="3970500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Batch Number: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89" name="Google Shape;89;p13"/>
          <p:cNvGraphicFramePr/>
          <p:nvPr>
            <p:extLst>
              <p:ext uri="{D42A27DB-BD31-4B8C-83A1-F6EECF244321}">
                <p14:modId xmlns:p14="http://schemas.microsoft.com/office/powerpoint/2010/main" val="886409593"/>
              </p:ext>
            </p:extLst>
          </p:nvPr>
        </p:nvGraphicFramePr>
        <p:xfrm>
          <a:off x="553347" y="2721840"/>
          <a:ext cx="5418675" cy="1590742"/>
        </p:xfrm>
        <a:graphic>
          <a:graphicData uri="http://schemas.openxmlformats.org/drawingml/2006/table">
            <a:tbl>
              <a:tblPr firstRow="1" bandRow="1">
                <a:noFill/>
                <a:tableStyleId>{57690726-49DA-4552-BDEB-330DD8EA8BD9}</a:tableStyleId>
              </a:tblPr>
              <a:tblGrid>
                <a:gridCol w="208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243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Roll Number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Student Name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t>20231CAI0046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Shubham Pandey (Team Leader)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20231CAI0006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Ikram Inayathulla Khan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20231CAI0003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Karanam Radha Pranathi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20231CAI0068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Bhagyesh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0" name="Google Shape;90;p13"/>
          <p:cNvSpPr txBox="1"/>
          <p:nvPr/>
        </p:nvSpPr>
        <p:spPr>
          <a:xfrm>
            <a:off x="6480195" y="2513340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Dr./Mr./Ms./Prof.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Professor / Associate Professor / 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School of Computer Science and Engineering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3986771" y="334089"/>
            <a:ext cx="5425083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t>CSS7102- Mini  Project Review-2</a:t>
            </a: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0" y="4533900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B.Tech - Computer Science &amp; Engineering (Artificial Intelligence)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Project Coordinator: 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Project Coordinators: </a:t>
            </a:r>
            <a:r>
              <a:rPr lang="en-US" sz="20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Sampath A K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t>Table of Contents (Review 2 Evaluation)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3924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 sz="1200">
                <a:solidFill>
                  <a:srgbClr val="1E293B"/>
                </a:solidFill>
                <a:latin typeface="Calibri"/>
              </a:defRPr>
            </a:pPr>
            <a:r>
              <a:t>1. Problem Statement &amp; GitHub Repository Link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2. Abstract (Rubric: 2 Marks)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3. Literature Survey — 12 IEEE/Scopus Papers (Rubric: 3 Marks)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4. Project Objectives (Rubric: 2 Marks)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5. Existing Methods &amp; Critical Drawbacks (Rubric: 2 Marks)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6. Proposed Method &amp; Feasibility Study (Rubric: 3 Marks)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7. System Architecture &amp; Data Flow Diagram (Rubric: 3 Marks)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8. System Modules Breakdown (Rubric: 2 Marks)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9. Hardware &amp; Software Details (Rubric: 1 Mark)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10. 5-Phase Project Timeline &amp; Gantt Chart (Rubric: 1 Mark)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11. References in IEEE Format (Rubric: 1 Mark)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12. Review 2 Progress &amp; Live Demonstration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 sz="2000" b="1">
                <a:solidFill>
                  <a:srgbClr val="1A365D"/>
                </a:solidFill>
                <a:latin typeface="Calibri"/>
              </a:defRPr>
            </a:pPr>
            <a:r>
              <a:t>Problem Statement &amp; GitHub Repository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342900" lvl="0" indent="-190500" algn="just">
              <a:spcBef>
                <a:spcPts val="0"/>
              </a:spcBef>
              <a:buNone/>
              <a:defRPr sz="2000" b="1">
                <a:solidFill>
                  <a:srgbClr val="1A365D"/>
                </a:solidFill>
                <a:latin typeface="Calibri"/>
              </a:defRPr>
            </a:pPr>
            <a:r>
              <a:t>Problem Statement &amp; GitHub Repository</a:t>
            </a:r>
          </a:p>
        </p:txBody>
      </p:sp>
    </p:spTree>
    <p:extLst>
      <p:ext uri="{BB962C8B-B14F-4D97-AF65-F5344CB8AC3E}">
        <p14:creationId xmlns:p14="http://schemas.microsoft.com/office/powerpoint/2010/main" val="21434518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Abstract (Rubric: 2 Marks)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Problem Context: Online misinformation diffuses ~6x faster than verified factual news across digital platforms (Vosoughi et al., Science 2018). Traditional fake-news classifiers evaluate articles in isolation, learning superficial topic shortcuts and failing against professionally phrased falsehoods.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Core Project Objective: TruthLens develops a real-time credibility scoring engine that evaluates any news article across three orthogonal dimensions: Factual Accuracy (via multi-source corroboration), Source Reputation (via Media Bias/Fact Check data), and Manipulation Indicators (via clickbait/urgency heuristics).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Proposed Approach &amp; Workflow: TruthLens (1) extracts central checkable factual claims, (2) retrieves live independent reporting pools (5-10 articles) via News APIs, (3) evaluates semantic agreement using RoBERTa-MNLI (Entailment, Contradiction, Neutral), and (4) aggregates signals into an explainable 0-100 Credibility Score.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Deliverables &amp; Impact: An indexed SQLite knowledge base of 4,442 news outlets (&lt;1ms lookup), a high-throughput FastAPI backend, and an interactive Streamlit dashboard displaying transparent source-by-source evidence attribution.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Literature Survey - Part 1 (Rubric: 3 Marks)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2834640"/>
                <a:gridCol w="2743200"/>
              </a:tblGrid>
              <a:tr h="65314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Paper &amp; Author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Key Findings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Research Gap / TruthLens Solution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Vosoughi et al.</a:t>
                      </a:r>
                    </a:p>
                    <a:p>
                      <a:r>
                        <a:t>Science (2018)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Empirical rumor diffusion analysis on Twitter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126k rumor cascades (Twitter)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False news diffuses 6x faster than truth due to novelty and emotional arousal.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Purely observational; TruthLens builds the active real-time verification system.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Thorne et al.</a:t>
                      </a:r>
                    </a:p>
                    <a:p>
                      <a:r>
                        <a:t>NAACL-HLT (2018) [2]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FEVER benchmark: retrieval &amp; 3-way stance check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185k claim pairs (Wikipedia)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Formalized 3-class fact verification (Supported, Refuted, NotEnoughInfo).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Restricted to clean static Wikipedia; TruthLens handles noisy live web news.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Baly et al.</a:t>
                      </a:r>
                    </a:p>
                    <a:p>
                      <a:r>
                        <a:t>EMNLP (2018) [3]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Source-level profiling of news factuality &amp; bias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1,066 news outlets from MBFC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Source reputation features strongly predict bias and factuality.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Assesses domains in isolation without verifying specific article claims. TruthLens combines both.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Liu et al.</a:t>
                      </a:r>
                    </a:p>
                    <a:p>
                      <a:r>
                        <a:t>arXiv / IEEE (2019) [4]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RoBERTa: Optimized BERT Pretraining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MNLI (392k pairs), CC-News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State-of-the-art 90.2% NLI accuracy on cross-sentence semantic entailment.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Requires high compute; TruthLens uses top-5 sentence filtering for fast sub-3s inference.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Wang</a:t>
                      </a:r>
                    </a:p>
                    <a:p>
                      <a:r>
                        <a:t>ACL (2017) [5]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LIAR benchmark fake news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12.8k PolitiFact statements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Surface speaker metadata improves text classification accuracy.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Narrow US political scope; TruthLens generalizes across global news domains.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Shu et al.</a:t>
                      </a:r>
                    </a:p>
                    <a:p>
                      <a:r>
                        <a:t>ACM SIGKDD (2017) [6]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Data mining survey on fake news detection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FakeNewsNet (BuzzFeed/PolitiFact)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Single-text detectors overfit; cross-checking external sources is critical.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Lacks formal transformer-based NLI. TruthLens directly integrates RoBERTa-MNLI.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Literature Survey - Part 2 (Rubric: 3 Marks)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2834640"/>
                <a:gridCol w="2743200"/>
              </a:tblGrid>
              <a:tr h="65314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Paper &amp; Author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Key Findings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Research Gap / TruthLens Solution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Baly et al.</a:t>
                      </a:r>
                    </a:p>
                    <a:p>
                      <a:r>
                        <a:t>ACL (2020) [7]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Robustness critique of fake news text classifiers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Multi-domain news corpora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Text-only classifiers learn superficial topic shortcuts rather than truthfulness.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Directly validates TruthLens: cross-source corroboration is strictly necessary.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Hanselowski et al.</a:t>
                      </a:r>
                    </a:p>
                    <a:p>
                      <a:r>
                        <a:t>COLING (2018) [8]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Fake News Challenge stance detection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FNC-1 (50k pairs)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Stance detection (Agree/Disagree) is an effective intermediate verification step.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 class imbalance; TruthLens tunes directional agreement thresholds.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Horne &amp; Adali</a:t>
                      </a:r>
                    </a:p>
                    <a:p>
                      <a:r>
                        <a:t>AAAI ICWSM (2017) [9]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Linguistic &amp; structural manipulation profiling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138k news articles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Fake news uses longer emotional titles, fewer technical words, and more drama.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 false positives if used alone; TruthLens uses manipulation as supporting penalty.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Aly et al.</a:t>
                      </a:r>
                    </a:p>
                    <a:p>
                      <a:r>
                        <a:t>NeurIPS (2021) [10]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FEVEROUS: Fact verification over structured data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87k multi-hop claim pairs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Combining cell tabular data with text improves verification accuracy by 14.8%.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Multi-hop graph traversal is too slow; TruthLens optimizes for real-time web use.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Hardalov et al.</a:t>
                      </a:r>
                    </a:p>
                    <a:p>
                      <a:r>
                        <a:t>NAACL (2022) [11]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Survey on stance detection for disinformation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Cross-document stance corpora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Cross-document NLI provides strong defense against adversarial paraphrasing.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Retrieval latency bottleneck; TruthLens uses fast indexed SQLite lookup (&lt;1ms).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Nørregaard et al.</a:t>
                      </a:r>
                    </a:p>
                    <a:p>
                      <a:r>
                        <a:t>AAAI (2019) [12]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NELA-GT news ground truth dataset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713k articles, 194 sources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Correlated MBFC domain credibility scores with article-level linguistic traits.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Static dataset snapshot; TruthLens integrates live streaming News APIs.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Project Objectives (Rubric: 2 Marks)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Objective 1 — Automated Factual Claim Extraction: Develop an NLP module using syntactic heuristics and Named Entity Recognition (NER) to extract the top 2-3 checkable factual claims from articles in &lt;2.5 seconds.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Objective 2 — High-Speed Source Reputation Profiling: Construct an indexed SQLite knowledge base of 4,442 verified news domains based on MBFC ratings, delivering sub-millisecond (&lt;1ms) lookups and institutional TLD fallbacks (.gov, .edu).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Objective 3 — Multi-Source Evidence Retrieval: Integrate NewsAPI and GNews API to programmatically retrieve a balanced corroboration pool of 5-10 contemporary reporting sources per claim.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Objective 4 — RoBERTa-MNLI Cross-Source Corroboration: Implement a Natural Language Inference pipeline to classify pairwise claim-evidence relationships into Entailment (+1), Contradiction (-1), and Neutral (0) stance signals.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Objective 5 — Manipulation &amp; Clickbait Indexing: Build a lexical and stylistic analyzer utilizing 109 trigger patterns to evaluate sensationalism, emotional panic, and structural formatting manipulation (0-100 scale).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Objective 6 — Unified Aggregation Engine &amp; User Interface: Deploy the mathematical multi-factor scoring formula in a FastAPI backend and interactive Streamlit web dashboard presenting transparent evidence cards.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Existing Methods and Drawbacks (Rubric: 2 Marks)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474720"/>
                <a:gridCol w="4663440"/>
              </a:tblGrid>
              <a:tr h="87782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Existing Approach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Working Principle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Critical Drawbacks &amp; Limitations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 Single-Text NLP Classifiers</a:t>
                      </a:r>
                    </a:p>
                    <a:p>
                      <a:r>
                        <a:t>(BERT / SVM / LSTM)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Evaluates the input article in isolation based solely on writing style, sentiment, and keywords.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 False Positives: Fails when misinformation is written in formal, professional journalistic tone. Overfits to topic keywords rather than factuality (Baly et al., ACL 2020).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 Static Domain Blacklisting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Maintains an ad-hoc blacklist of known fake news and conspiracy website URLs.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Zero-Day Vulnerability: Useless against newly registered domains, clone sites, or misinformation published on legitimate platforms (blogs/forums).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3. Manual Human Fact-Checking</a:t>
                      </a:r>
                    </a:p>
                    <a:p>
                      <a:r>
                        <a:t>(Snopes, PolitiFact)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Expert fact-checkers manually research claims and publish debunking articles.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Severe Latency Bottleneck: Takes hours to days per claim. Ineffective against viral misinformation spreading across millions of feeds in minutes.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 Shallow Keyword Matching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Searches Google/News for shared keywords between articles.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Semantic Blindness: Cannot differentiate whether the other article agrees, refutes, or merely mentions the topic in a different context. Semantic NLI is strictly required.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Proposed Method &amp; Feasibility Study (Rubric: 3 Marks)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Proposed Innovation — Multi-Factor Cross-Source Corroboration: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Instead of trusting the article's text, TruthLens verifies the claim against the global consensus of independent reputable outlets: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Mathematical Formula: Credibility = β · [ Σ(W_rep(d_i) · Φ_NLI(i)) / Σ W_rep(d_i) · 50 + 50 ] + (1-β) · S_origin - α · M_index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W_rep(d_i): MBFC source reputation weight (Reuters = 1.0, Mixed = 0.45, Conspiracy = 0.05, Satire = 0.0)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Φ_NLI(i): RoBERTa-MNLI directional agreement signal: P(Entailment) - P(Contradiction) ∈ [-1.0, +1.0]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M_index: Linguistic manipulation score (0-100) scaled by penalty factor α = 0.25 | β = 0.70 (evidence weight)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Feasibility Study Justification: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1. Technical Feasibility: Pretrained roberta-large-mnli provides 90%+ zero-shot inference. SQLite provides &lt;0.02ms cached lookups.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2. Economic / Cost Feasibility ($0 Cost): Uses free developer tiers of NewsAPI (100 req/day) and GNews API. Local RoBERTa execution requires zero cloud API costs.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3. Computational Feasibility: Pairwise inference is ~250ms on CPU and &lt;50ms on GPU. Total pipeline latency is sub-4 seconds.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System Architecture Diagram (Rubric: 3 Marks)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2377440" cy="4389120"/>
          </a:xfrm>
          <a:prstGeom prst="roundRect">
            <a:avLst/>
          </a:prstGeom>
          <a:solidFill>
            <a:srgbClr val="EBF8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1A365D"/>
                </a:solidFill>
                <a:latin typeface="Calibri"/>
              </a:defRPr>
            </a:pPr>
            <a:r>
              <a:t>1. Presentation Layer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User Inputs: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News Article URL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Raw Claim Text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Dashboard UI: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Streamlit / React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Credibility Gauge (0-100)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Evidence Attribution Cards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Manipulation Risk Warning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280160"/>
            <a:ext cx="3291840" cy="4389120"/>
          </a:xfrm>
          <a:prstGeom prst="roundRect">
            <a:avLst/>
          </a:prstGeom>
          <a:solidFill>
            <a:srgbClr val="F7FAFC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1A365D"/>
                </a:solidFill>
                <a:latin typeface="Calibri"/>
              </a:defRPr>
            </a:pPr>
            <a:r>
              <a:t>2. Core Processing Pipeline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FastAPI REST Endpoints: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/analyze/url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/analyze/text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Pipeline Modules: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Web Scraper (trafilatura)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Claim Extractor (NER/POS)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News Retrieval Engine (NewsAPI &amp; GNews API)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Corroboration Pool (5-10 Outlets)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280160"/>
            <a:ext cx="3383280" cy="4389120"/>
          </a:xfrm>
          <a:prstGeom prst="round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1A365D"/>
                </a:solidFill>
                <a:latin typeface="Calibri"/>
              </a:defRPr>
            </a:pPr>
            <a:r>
              <a:t>3. Intelligence &amp; Scoring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MBFC Source Database: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SQLite 4,442 Domains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Multi-tier domain resolver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Source weights (W_rep)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RoBERTa-MNLI Engine: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Stance inference (Phi_NLI)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Manipulation Detector: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 • 109 Lexical &amp; Stylistic Triggers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t>Multi-Factor Aggregator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System Modules Breakdown (Rubric: 2 Marks)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Module 1 — Article Ingestion &amp; Web Scraper: Parses news URLs, strips HTML boilerplate, extracts clean headline and body text, and identifies publisher domain.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Module 2 — Factual Claim Extraction: Applies Named Entity Recognition (NER), quantity parsing, and quote-attribution syntax to isolate 2-3 checkable factual claims.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Module 3 — Multi-Source Evidence Retrieval: Formulates keyword queries from claims and fetches 5-10 contemporary reporting articles from NewsAPI and GNews API.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Module 4 — MBFC Source Reputation Database: Queries an indexed SQLite database of 4,442 news outlets; assigns credibility weights (W_rep) and filters satire/conspiracy.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Module 5 — Stance Verifier &amp; Manipulation Engine: (5A) RoBERTa-MNLI classifies claim-evidence stance into Entailment/Contradiction/Neutral; (5B) scans text for 109 manipulation triggers.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Module 6 — Score Aggregator &amp; Visual Dashboard: Computes the 0-100 credibility score and renders interactive evidence breakdown cards on the Streamlit web dashboard.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Hardware and Software Details (Rubric: 1 Mark)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114800"/>
              </a:tblGrid>
              <a:tr h="627017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Component Category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Specification / Library Used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Role in TruthLens System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Programming 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Python 3.11.9+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Core runtime and pipeline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Deep Learning / NLP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PyTorch 2.1+, Hugging Face Transformers, RoBERTa-MNLI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Natural Language Inference (claim vs. evidence agreement)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Database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SQLite 3 (B-Tree indexed local database)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Sub-millisecond source reputation lookup (4,442 outlets)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Web &amp; Backend API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FastAPI 0.104+, Uvicorn, Requests, trafilatura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High-throughput asynchronous REST API &amp; web scraping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Frontend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Streamlit 1.28+ / React 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Interactive real-time user interface and evidence cards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Hardware Requirements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Min: Quad-Core CPU, 8GB RAM, 5GB Storage</a:t>
                      </a:r>
                    </a:p>
                    <a:p>
                      <a:r>
                        <a:t>Rec: 8-Core CPU, 16GB RAM, NVIDIA RTX GPU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Enables sub-3 second total pipeline execution per article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Timeline of the Project - 5-Phase Plan (Rubric: 1 Mark)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5303520"/>
                <a:gridCol w="192024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Core Deliverables &amp; Scope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Current Status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Weeks 1–2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Problem formulation (PSAIAC_61), literature survey (12 papers), architecture design, tech stack selection.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Phase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Weeks 3–4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Dataset collection, MBFC SQLite database (4,442 outlets), domain resolver, manipulation lexicons, baseline testing.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66534"/>
                          </a:solidFill>
                          <a:latin typeface="Calibri"/>
                        </a:defRPr>
                      </a:pPr>
                      <a:r>
                        <a:t>Completed (Review 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Weeks 5–6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Article ingestion pipeline (trafilatura), factual claim extraction module, NewsAPI &amp; GNews retrieval integration.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Upcoming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Phase 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Weeks 7–8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RoBERTa-MNLI model integration, pairwise stance classification pipeline, semantic similarity threshold filtering.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Upcoming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A365D"/>
                          </a:solidFill>
                          <a:latin typeface="Calibri"/>
                        </a:defRPr>
                      </a:pPr>
                      <a:r>
                        <a:t>Phase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Weeks 9–12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Score aggregation engine, FastAPI REST API, Streamlit dashboard, end-to-end evaluation &amp; final report.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Upcoming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References (IEEE Format — Rubric: 1 Mark)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[1] S. Vosoughi, D. Roy, and S. Aral, "The spread of true and false news online," Science, vol. 359, no. 6380, pp. 1146-1151, Mar. 2018.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[2] J. Thorne, A. Vlachos, C. Christodoulopoulos, and A. Mittal, "FEVER: a large-scale dataset for Fact Extraction and VERification," in Proc. NAACL-HLT 2018, pp. 809-819.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[3] R. Baly, G. Karadzhov, D. Alexandrov, J. Glass, and P. Nakov, "Predicting factuality of reporting and bias of news media sources," in Proc. EMNLP 2018, pp. 3528-3539.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[4] Y. Liu, M. Ott, N. Goyal, J. Du, M. Joshi, D. Chen, O. Levy, M. Lewis, L. Zettlemoyer, and V. Stoyanov, "RoBERTa: A Robustly Optimized BERT Pretraining Approach," arXiv:1907.11692, 2019.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[5] W. Y. Wang, ""Liar, Liar Pants on Fire": A New Benchmark Dataset for Fake News Detection," in Proc. ACL 2017, pp. 422-426.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[6] K. Shu, A. Sliva, S. Wang, J. Tang, and H. Liu, "Fake News Detection on Social Media: A Data Mining Perspective," ACM SIGKDD Explorations Newsletter, vol. 19, no. 1, pp. 22-36, 2017.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[7] R. Baly et al., "We Can Detect Fake News with High Accuracy, but What Did We Learn? A Quantitative and Qualitative Analysis," in Proc. ACL 2020, pp. 5182-5197.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[8] A. Hanselowski, H. P. Ji, V. Stoyanov, and I. Gurevych, "A Retrospective Analysis of the Fake News Challenge Stance-Detection Task," in Proc. COLING 2018, pp. 1859-1874.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[9] B. D. Horne and S. Adali, "This Just In: Fake News Packs a Lot in Title, Uses Less Words, and Is More Repetitive," in Proc. AAAI ICWSM 2017, pp. 759-766.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[10] R. Aly et al., "FEVEROUS: Fact Extraction and VERification Over Unstructured and Structured information," in NeurIPS, vol. 34, 2021, pp. 25674-25687.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[11] M. Hardalov, A. Arora, P. Nakov, and I. Augenstein, "A Survey on Stance Detection for Mis- and Disinformation Identification," in Findings of NAACL 2022, pp. 1259-1277.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  <a:latin typeface="Calibri"/>
              </a:defRPr>
            </a:pPr>
            <a:r>
              <a:t>[12] J. Nørregaard, B. D. Horne, and S. Adali, "NELA-GT-2018: A Large Multi-Labelled News Dataset for The Study of Misinformation in News Articles," in Proc. AAAI ICWSM 2019, pp. 630-638.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A365D"/>
                </a:solidFill>
                <a:latin typeface="Calibri"/>
              </a:defRPr>
            </a:pPr>
            <a:r>
              <a:t>Review 2 Summary &amp; Demonstration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Review 2 Phase Deliverables Achieved (Weeks 3-4):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[✓] MBFC Source Reputation Database: 4,442 news outlets indexed in SQLite with sub-millisecond lookups.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[✓] Canonical Domain Resolution Engine: Automated parsing of subdomains and authoritative TLD heuristics.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[✓] Manipulation &amp; Sensationalism Detector: 109 linguistic triggers scanning clickbait and emotional urgency.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[✓] Ground-Truth Benchmark Testbed: 10 curated test claims across 6 domains.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  [✓] Automated Testing Suite: 13/13 unit tests passed with 100% success rate.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Public GitHub Repository: https://github.com/shubhamsapr5-eng/truth-lens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Thank You! Questions &amp; Live Demonstration.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informatics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A8A2C149D477E4E814B4B477F0E243C" ma:contentTypeVersion="13" ma:contentTypeDescription="Create a new document." ma:contentTypeScope="" ma:versionID="89242249e9f2fc9f35c8ac40d1749aa8">
  <xsd:schema xmlns:xsd="http://www.w3.org/2001/XMLSchema" xmlns:xs="http://www.w3.org/2001/XMLSchema" xmlns:p="http://schemas.microsoft.com/office/2006/metadata/properties" xmlns:ns2="ed62f681-7444-4666-891e-c71d42de2ddf" xmlns:ns3="b8676f30-e579-463a-a8aa-821338b00374" targetNamespace="http://schemas.microsoft.com/office/2006/metadata/properties" ma:root="true" ma:fieldsID="a661edb3eb918c130b5b038713d75e6b" ns2:_="" ns3:_="">
    <xsd:import namespace="ed62f681-7444-4666-891e-c71d42de2ddf"/>
    <xsd:import namespace="b8676f30-e579-463a-a8aa-821338b0037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62f681-7444-4666-891e-c71d42de2d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d4626717-1439-4315-99ce-985d7ba5c11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676f30-e579-463a-a8aa-821338b0037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f08d022-328e-4f53-b2cf-c730c7a35dee}" ma:internalName="TaxCatchAll" ma:showField="CatchAllData" ma:web="b8676f30-e579-463a-a8aa-821338b0037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62f681-7444-4666-891e-c71d42de2ddf">
      <Terms xmlns="http://schemas.microsoft.com/office/infopath/2007/PartnerControls"/>
    </lcf76f155ced4ddcb4097134ff3c332f>
    <TaxCatchAll xmlns="b8676f30-e579-463a-a8aa-821338b0037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799BD1-F224-430F-A4F0-5AAD34602B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62f681-7444-4666-891e-c71d42de2ddf"/>
    <ds:schemaRef ds:uri="b8676f30-e579-463a-a8aa-821338b003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31A4896-B9C1-4471-B691-16FF8CBFF7E9}">
  <ds:schemaRefs>
    <ds:schemaRef ds:uri="http://purl.org/dc/terms/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purl.org/dc/dcmitype/"/>
    <ds:schemaRef ds:uri="b8676f30-e579-463a-a8aa-821338b00374"/>
    <ds:schemaRef ds:uri="ed62f681-7444-4666-891e-c71d42de2ddf"/>
  </ds:schemaRefs>
</ds:datastoreItem>
</file>

<file path=customXml/itemProps3.xml><?xml version="1.0" encoding="utf-8"?>
<ds:datastoreItem xmlns:ds="http://schemas.openxmlformats.org/officeDocument/2006/customXml" ds:itemID="{13D2043A-A905-44DC-A627-E0BB4B1558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703</Words>
  <Application>Microsoft Office PowerPoint</Application>
  <PresentationFormat>Widescreen</PresentationFormat>
  <Paragraphs>101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Cambria</vt:lpstr>
      <vt:lpstr>Verdana</vt:lpstr>
      <vt:lpstr>Wingdings</vt:lpstr>
      <vt:lpstr>Bioinformatics</vt:lpstr>
      <vt:lpstr>PowerPoint Presentation</vt:lpstr>
      <vt:lpstr>AI-Powered News Credibility Scorer</vt:lpstr>
      <vt:lpstr>Content</vt:lpstr>
      <vt:lpstr>Problem Statement Number: PSAIAC_61</vt:lpstr>
      <vt:lpstr>Github Link</vt:lpstr>
      <vt:lpstr>Analysis of Problem Statement</vt:lpstr>
      <vt:lpstr>Analysis of Problem Statement (contd...)</vt:lpstr>
      <vt:lpstr>Analysis of Problem Statement (contd...)</vt:lpstr>
      <vt:lpstr>Timeline of the Project (Gantt Chart)</vt:lpstr>
      <vt:lpstr>References (IEEE Paper format)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Admin</dc:creator>
  <cp:lastModifiedBy>Shubham Pandey</cp:lastModifiedBy>
  <cp:revision>40</cp:revision>
  <dcterms:modified xsi:type="dcterms:W3CDTF">2026-08-07T07:00:46Z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0x010100FA8A2C149D477E4E814B4B477F0E243C</vt:lpwstr>
  </property>
</Properties>
</file>