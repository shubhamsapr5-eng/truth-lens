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6"/>
  </p:notesMasterIdLst>
  <p:sldIdLst>
    <p:sldId id="274" r:id="rId5"/>
    <p:sldId id="256" r:id="rId6"/>
    <p:sldId id="257" r:id="rId7"/>
    <p:sldId id="269" r:id="rId8"/>
    <p:sldId id="268" r:id="rId9"/>
    <p:sldId id="273" r:id="rId10"/>
    <p:sldId id="272" r:id="rId11"/>
    <p:sldId id="271" r:id="rId12"/>
    <p:sldId id="270" r:id="rId13"/>
    <p:sldId id="265" r:id="rId14"/>
    <p:sldId id="266" r:id="rId15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A50E9A-5B29-3F48-C37D-89C17238E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75"/>
            <a:ext cx="121920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58555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11BAA27-C0F4-A466-A09B-15D5201C28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1" name="Rectangle 1"/>
          <p:cNvSpPr/>
          <p:nvPr/>
        </p:nvSpPr>
        <p:spPr>
          <a:xfrm>
            <a:off x="0" y="380240"/>
            <a:ext cx="12192000" cy="6966857"/>
          </a:xfrm>
          <a:prstGeom prst="rect">
            <a:avLst/>
          </a:prstGeom>
          <a:solidFill>
            <a:srgbClr val="002F5E">
              <a:alpha val="7490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+mj-lt"/>
            </a:endParaRPr>
          </a:p>
        </p:txBody>
      </p:sp>
      <p:sp>
        <p:nvSpPr>
          <p:cNvPr id="200" name="TextBox 5"/>
          <p:cNvSpPr txBox="1">
            <a:spLocks noGrp="1"/>
          </p:cNvSpPr>
          <p:nvPr>
            <p:ph type="sldNum" sz="quarter" idx="2"/>
          </p:nvPr>
        </p:nvSpPr>
        <p:spPr>
          <a:xfrm>
            <a:off x="11396678" y="454968"/>
            <a:ext cx="162863" cy="24622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202" name="TextBox 2"/>
          <p:cNvSpPr txBox="1"/>
          <p:nvPr/>
        </p:nvSpPr>
        <p:spPr>
          <a:xfrm>
            <a:off x="567271" y="2277410"/>
            <a:ext cx="11390486" cy="1862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7300" b="1">
                <a:solidFill>
                  <a:srgbClr val="188CFF">
                    <a:alpha val="15000"/>
                  </a:srgbClr>
                </a:solidFill>
                <a:effectLst>
                  <a:outerShdw blurRad="127000" rotWithShape="0">
                    <a:srgbClr val="000000">
                      <a:alpha val="10000"/>
                    </a:srgbClr>
                  </a:outerShdw>
                </a:effectLst>
                <a:latin typeface="Manrope ExtraBold"/>
                <a:ea typeface="Manrope ExtraBold"/>
                <a:cs typeface="Manrope ExtraBold"/>
                <a:sym typeface="Manrope ExtraBold"/>
              </a:defRPr>
            </a:lvl1pPr>
          </a:lstStyle>
          <a:p>
            <a:r>
              <a:rPr lang="en-IN" sz="11500" dirty="0">
                <a:latin typeface="+mj-lt"/>
              </a:rPr>
              <a:t>Presidency</a:t>
            </a:r>
            <a:endParaRPr sz="13800" dirty="0">
              <a:latin typeface="+mj-lt"/>
            </a:endParaRPr>
          </a:p>
        </p:txBody>
      </p:sp>
      <p:sp>
        <p:nvSpPr>
          <p:cNvPr id="203" name="TextBox 3"/>
          <p:cNvSpPr txBox="1"/>
          <p:nvPr/>
        </p:nvSpPr>
        <p:spPr>
          <a:xfrm>
            <a:off x="1573968" y="3788227"/>
            <a:ext cx="8724276" cy="496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lnSpc>
                <a:spcPct val="150000"/>
              </a:lnSpc>
              <a:defRPr sz="1600" spc="300">
                <a:solidFill>
                  <a:srgbClr val="FFFFFF"/>
                </a:solidFill>
              </a:defRPr>
            </a:lvl1pPr>
          </a:lstStyle>
          <a:p>
            <a:r>
              <a:rPr lang="en-IN" sz="2000" dirty="0">
                <a:latin typeface="+mj-lt"/>
              </a:rPr>
              <a:t>School of Artificial Intelligence and Advanced Computing</a:t>
            </a:r>
            <a:endParaRPr sz="2000" dirty="0">
              <a:latin typeface="+mj-lt"/>
            </a:endParaRPr>
          </a:p>
        </p:txBody>
      </p:sp>
      <p:sp>
        <p:nvSpPr>
          <p:cNvPr id="205" name="Rectangle 11"/>
          <p:cNvSpPr/>
          <p:nvPr/>
        </p:nvSpPr>
        <p:spPr>
          <a:xfrm>
            <a:off x="609600" y="380240"/>
            <a:ext cx="45719" cy="305561"/>
          </a:xfrm>
          <a:prstGeom prst="rect">
            <a:avLst/>
          </a:prstGeom>
          <a:solidFill>
            <a:srgbClr val="F39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BA17B-3BC2-6BF3-E9AA-D4BFBC2AD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3" y="380240"/>
            <a:ext cx="1378341" cy="298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9FE14F-095F-73F1-B975-3CCBF67C0C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0771"/>
            <a:ext cx="12192000" cy="469900"/>
          </a:xfrm>
          <a:prstGeom prst="rect">
            <a:avLst/>
          </a:prstGeom>
        </p:spPr>
      </p:pic>
      <p:sp>
        <p:nvSpPr>
          <p:cNvPr id="13" name="TextBox 5"/>
          <p:cNvSpPr txBox="1"/>
          <p:nvPr/>
        </p:nvSpPr>
        <p:spPr>
          <a:xfrm>
            <a:off x="2114624" y="2392826"/>
            <a:ext cx="8295781" cy="1631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0000" b="1">
                <a:solidFill>
                  <a:srgbClr val="FFFFFF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</a:lstStyle>
          <a:p>
            <a:r>
              <a:rPr lang="en-IN" dirty="0">
                <a:latin typeface="+mj-lt"/>
              </a:rPr>
              <a:t>Presidency</a:t>
            </a:r>
            <a:endParaRPr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604809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t>TruthLens: AI-Powered Real-Time News Credibility Scorer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9" y="2100770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886409593"/>
              </p:ext>
            </p:extLst>
          </p:nvPr>
        </p:nvGraphicFramePr>
        <p:xfrm>
          <a:off x="553347" y="2721840"/>
          <a:ext cx="5418675" cy="1590742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t>20231CAI0046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Shubham Pandey (Team Leader)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20231CAI0006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Ikram Inayathulla Khan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20231CAI0003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Karanam Radha Pranathi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20231CAI0068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Bhagyesh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1" y="334089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t>CSS7102- Mini Project Review-3 (50% Milestone)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B.Tech - Computer Science &amp; Engineering (Artificial Intelligence)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Table of Contents (50% Milestone Review)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1. Problem Statement &amp; Official GitHub Repository  --  PSAIAC_61 Project Scope &amp; Repository</a:t>
            </a:r>
          </a:p>
          <a:p>
            <a:pPr>
              <a:spcAft>
                <a:spcPts val="28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2. Abstract &amp; Core Objective  --  Real-Time Multi-Modal Misinformation Verification</a:t>
            </a:r>
          </a:p>
          <a:p>
            <a:pPr>
              <a:spcAft>
                <a:spcPts val="28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3. Literature Survey (12 IEEE / Scopus Papers)  --  Critical Findings &amp; Identified Research Gaps</a:t>
            </a:r>
          </a:p>
          <a:p>
            <a:pPr>
              <a:spcAft>
                <a:spcPts val="28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4. Project Objectives  --  SMART Outcome-Focused Technical Goals</a:t>
            </a:r>
          </a:p>
          <a:p>
            <a:pPr>
              <a:spcAft>
                <a:spcPts val="28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5. Existing Methods and Drawbacks  --  Comparative Critique of Current Classifiers &amp; Blacklists</a:t>
            </a:r>
          </a:p>
          <a:p>
            <a:pPr>
              <a:spcAft>
                <a:spcPts val="28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6. Proposed Method &amp; Feasibility Study  --  Cross-Source Corroboration &amp; Zero-Cost Feasibility</a:t>
            </a:r>
          </a:p>
          <a:p>
            <a:pPr>
              <a:spcAft>
                <a:spcPts val="28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7. System Architecture Diagram  --  3-Tier Dataflow &amp; Component Integration</a:t>
            </a:r>
          </a:p>
          <a:p>
            <a:pPr>
              <a:spcAft>
                <a:spcPts val="28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8. System Modules Breakdown  --  Modules 1 to 6 Architectural Roles</a:t>
            </a:r>
          </a:p>
          <a:p>
            <a:pPr>
              <a:spcAft>
                <a:spcPts val="28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9. Phase 3 Achievements (50% Milestone)  --  Live NewsAPI Evidence Retrieval &amp; Streamlit Web Portal</a:t>
            </a:r>
          </a:p>
          <a:p>
            <a:pPr>
              <a:spcAft>
                <a:spcPts val="28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10. 50% vs Remaining 50% Engineering Division  --  Completed Foundation vs Upcoming Deep Learning Stance Engine</a:t>
            </a:r>
          </a:p>
          <a:p>
            <a:pPr>
              <a:spcAft>
                <a:spcPts val="28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11. Hardware and Software Details  --  Dependencies, APIs &amp; Execution Specifications</a:t>
            </a:r>
          </a:p>
          <a:p>
            <a:pPr>
              <a:spcAft>
                <a:spcPts val="28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12. Timeline of the Project -- 5-Phase Plan  --  Progress Tracking with Phase 3 Marked Completed</a:t>
            </a:r>
          </a:p>
          <a:p>
            <a:pPr>
              <a:spcAft>
                <a:spcPts val="28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13. Team Member Contribution Matrix  --  Phase 3 Engineering Roles (Leader &amp; Teammates)</a:t>
            </a:r>
          </a:p>
          <a:p>
            <a:pPr>
              <a:spcAft>
                <a:spcPts val="28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14. References  --  Standard IEEE Format Citations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Problem Statement &amp; GitHub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2C57"/>
                </a:solidFill>
                <a:latin typeface="Arial"/>
              </a:defRPr>
            </a:pPr>
            <a:r>
              <a:t>Problem Statement Number: PSAIAC_61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02C57"/>
                </a:solidFill>
              </a:rPr>
              <a:t>Organization: </a:t>
            </a:r>
            <a:r>
              <a:rPr b="0" sz="1400">
                <a:solidFill>
                  <a:srgbClr val="212529"/>
                </a:solidFill>
              </a:rPr>
              <a:t>School of Artificial Intelligence and Advanced Computing (AI&amp;AC), Presidency University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02C57"/>
                </a:solidFill>
              </a:rPr>
              <a:t>Category: </a:t>
            </a:r>
            <a:r>
              <a:rPr b="0" sz="1400">
                <a:solidFill>
                  <a:srgbClr val="212529"/>
                </a:solidFill>
              </a:rPr>
              <a:t>Software / Applied Machine Learning &amp; NLP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02C57"/>
                </a:solidFill>
              </a:rPr>
              <a:t>Difficulty Level: </a:t>
            </a:r>
            <a:r>
              <a:rPr b="0" sz="1400">
                <a:solidFill>
                  <a:srgbClr val="212529"/>
                </a:solidFill>
              </a:rPr>
              <a:t>Medium-High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02C57"/>
                </a:solidFill>
              </a:rPr>
              <a:t>Problem Description: </a:t>
            </a:r>
            <a:r>
              <a:rPr b="0" sz="1400">
                <a:solidFill>
                  <a:srgbClr val="212529"/>
                </a:solidFill>
              </a:rPr>
              <a:t>Misinformation spreads approximately 6x faster than real news online (Vosoughi et al., Science 2018). There is a critical societal need for an automated system that evaluates a news article in real time and scores it on: (1) factual accuracy, (2) source credibility, and (3) manipulation indicators.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565A9"/>
                </a:solidFill>
              </a:rPr>
              <a:t>Official GitHub Repository: </a:t>
            </a:r>
            <a:r>
              <a:rPr b="1" sz="1400">
                <a:solidFill>
                  <a:srgbClr val="28A745"/>
                </a:solidFill>
              </a:rPr>
              <a:t>https://github.com/shubhamsapr5-eng/truth-lens (Public Access Enabled)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50">
                <a:solidFill>
                  <a:srgbClr val="102C57"/>
                </a:solidFill>
              </a:rPr>
              <a:t>Problem Context: </a:t>
            </a:r>
            <a:r>
              <a:rPr sz="1350">
                <a:solidFill>
                  <a:srgbClr val="212529"/>
                </a:solidFill>
              </a:rPr>
              <a:t>Online misinformation diffuses ~6x faster than verified factual news across digital platforms (Vosoughi et al., Science 2018). Traditional fake-news classifiers evaluate articles in isolation, learning superficial topic shortcuts and failing against professionally phrased falsehoods.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02C57"/>
                </a:solidFill>
              </a:rPr>
              <a:t>Core Project Objective: </a:t>
            </a:r>
            <a:r>
              <a:rPr sz="1350">
                <a:solidFill>
                  <a:srgbClr val="212529"/>
                </a:solidFill>
              </a:rPr>
              <a:t>TruthLens develops a real-time credibility scoring engine that evaluates any news article across three orthogonal dimensions: Factual Accuracy (via multi-source corroboration), Source Reputation (via Media Bias/Fact Check data), and Manipulation Indicators (via clickbait/urgency heuristics).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02C57"/>
                </a:solidFill>
              </a:rPr>
              <a:t>50% Milestone State: </a:t>
            </a:r>
            <a:r>
              <a:rPr sz="1350">
                <a:solidFill>
                  <a:srgbClr val="212529"/>
                </a:solidFill>
              </a:rPr>
              <a:t>TruthLens has successfully completed the data infrastructure, domain resolution engine (&lt;0.02ms), 109-trigger manipulation detector, live NewsAPI multi-source evidence retrieval, and a fully interactive Streamlit web dashboard with evaluation login.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02C57"/>
                </a:solidFill>
              </a:rPr>
              <a:t>Deliverables &amp; Impact: </a:t>
            </a:r>
            <a:r>
              <a:rPr sz="1350">
                <a:solidFill>
                  <a:srgbClr val="212529"/>
                </a:solidFill>
              </a:rPr>
              <a:t>An indexed SQLite knowledge base of 4,442 news outlets, 16 passing unit tests, and a user-friendly browser interface presenting transparent source-by-source evidence attribution.</a:t>
            </a: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Literature Survey -- Part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645920"/>
                <a:gridCol w="292608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Paper &amp; Author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Methodology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Dataset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Findings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Research Gap / TruthLens Solution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Vosoughi et al.</a:t>
                      </a:r>
                    </a:p>
                    <a:p>
                      <a:r>
                        <a:t>Science (2018) [1]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Empirical rumor diffusion analysis on Twitter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126k rumor cascades (Twitter)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False news diffuses 6x faster than truth due to novelty and emotional arousal.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Purely observational; TruthLens builds the active real-time verification system.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Thorne et al.</a:t>
                      </a:r>
                    </a:p>
                    <a:p>
                      <a:r>
                        <a:t>NAACL-HLT (2018) [2]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FEVER benchmark: retrieval &amp; 3-way stance check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185k claim pairs (Wikipedia)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Formalized 3-class fact verification (Supported, Refuted, NotEnoughInfo).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Restricted to clean static Wikipedia; TruthLens handles noisy live web news.</a:t>
                      </a:r>
                    </a:p>
                  </a:txBody>
                  <a:tcPr marL="73152" marR="73152" marT="45720" marB="45720" anchor="ctr"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Baly et al.</a:t>
                      </a:r>
                    </a:p>
                    <a:p>
                      <a:r>
                        <a:t>EMNLP (2018) [3]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Source-level profiling of news factuality &amp; bias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1,066 news outlets from MBFC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Source reputation features strongly predict bias and factuality.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Assesses domains in isolation without verifying specific article claims. TruthLens combines both.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Liu et al.</a:t>
                      </a:r>
                    </a:p>
                    <a:p>
                      <a:r>
                        <a:t>arXiv / IEEE (2019) [4]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RoBERTa: Optimized BERT Pretraining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MNLI (392k pairs), CC-News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State-of-the-art 90.2% NLI accuracy on cross-sentence semantic entailment.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Requires high compute; TruthLens uses top-5 sentence filtering for fast sub-3s inference.</a:t>
                      </a:r>
                    </a:p>
                  </a:txBody>
                  <a:tcPr marL="73152" marR="73152" marT="45720" marB="45720" anchor="ctr"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Wang</a:t>
                      </a:r>
                    </a:p>
                    <a:p>
                      <a:r>
                        <a:t>ACL (2017) [5]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LIAR benchmark fake news classifier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12.8k PolitiFact statements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Surface speaker metadata improves text classification accuracy.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Narrow US political scope; TruthLens generalizes across global news domains.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Shu et al.</a:t>
                      </a:r>
                    </a:p>
                    <a:p>
                      <a:r>
                        <a:t>ACM SIGKDD (2017) [6]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Data mining survey on fake news detection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FakeNewsNet (BuzzFeed/PolitiFact)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Single-text detectors overfit; cross-checking external sources is critical.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Lacks formal transformer-based NLI. TruthLens directly integrates RoBERTa-MNLI.</a:t>
                      </a:r>
                    </a:p>
                  </a:txBody>
                  <a:tcPr marL="73152" marR="73152" marT="45720" marB="4572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Literature Survey -- Part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645920"/>
                <a:gridCol w="292608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Paper &amp; Author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Methodology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Dataset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Findings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Research Gap / TruthLens Solution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Baly et al.</a:t>
                      </a:r>
                    </a:p>
                    <a:p>
                      <a:r>
                        <a:t>ACL (2020) [7]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Robustness critique of fake news text classifiers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Multi-domain news corpora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Text-only classifiers learn superficial topic shortcuts rather than truthfulness.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Directly validates TruthLens: cross-source corroboration is strictly necessary.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Hanselowski et al.</a:t>
                      </a:r>
                    </a:p>
                    <a:p>
                      <a:r>
                        <a:t>COLING (2018) [8]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Fake News Challenge stance detection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FNC-1 (50k pairs)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Stance detection (Agree/Disagree) is an effective intermediate verification step.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High class imbalance; TruthLens tunes directional agreement thresholds.</a:t>
                      </a:r>
                    </a:p>
                  </a:txBody>
                  <a:tcPr marL="73152" marR="73152" marT="45720" marB="45720" anchor="ctr"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Horne &amp; Adali</a:t>
                      </a:r>
                    </a:p>
                    <a:p>
                      <a:r>
                        <a:t>AAAI ICWSM (2017) [9]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Linguistic &amp; structural manipulation profiling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138k news articles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Fake news uses longer emotional titles, fewer technical words, and more drama.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High false positives if used alone; TruthLens uses manipulation as supporting penalty.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Aly et al.</a:t>
                      </a:r>
                    </a:p>
                    <a:p>
                      <a:r>
                        <a:t>NeurIPS (2021) [10]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FEVEROUS: Fact verification over structured data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87k multi-hop claim pairs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Combining cell tabular data with text improves verification accuracy by 14.8%.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Multi-hop graph traversal is too slow; TruthLens optimizes for real-time web use.</a:t>
                      </a:r>
                    </a:p>
                  </a:txBody>
                  <a:tcPr marL="73152" marR="73152" marT="45720" marB="45720" anchor="ctr"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Hardalov et al.</a:t>
                      </a:r>
                    </a:p>
                    <a:p>
                      <a:r>
                        <a:t>NAACL (2022) [11]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Survey on stance detection for disinformation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Cross-document stance corpora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Cross-document NLI provides strong defense against adversarial paraphrasing.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Retrieval latency bottleneck; TruthLens uses fast indexed SQLite lookup (&lt;1ms).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Norregaard et al.</a:t>
                      </a:r>
                    </a:p>
                    <a:p>
                      <a:r>
                        <a:t>AAAI (2019) [12]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NELA-GT news ground truth dataset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713k articles, 194 sources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Correlated MBFC domain credibility scores with article-level linguistic traits.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Static dataset snapshot; TruthLens integrates live streaming News APIs.</a:t>
                      </a:r>
                    </a:p>
                  </a:txBody>
                  <a:tcPr marL="73152" marR="73152" marT="45720" marB="4572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200">
                <a:solidFill>
                  <a:srgbClr val="102C57"/>
                </a:solidFill>
              </a:rPr>
              <a:t>Objective 1 -- Automated Factual Claim Extraction: </a:t>
            </a:r>
            <a:r>
              <a:rPr sz="1200">
                <a:solidFill>
                  <a:srgbClr val="212529"/>
                </a:solidFill>
              </a:rPr>
              <a:t>Develop an NLP module using syntactic heuristics and Named Entity Recognition (NER) to extract the top 2-3 checkable factual claims from articles in &lt;2.5 seconds.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02C57"/>
                </a:solidFill>
              </a:rPr>
              <a:t>Objective 2 -- High-Speed Source Reputation Profiling: </a:t>
            </a:r>
            <a:r>
              <a:rPr sz="1200">
                <a:solidFill>
                  <a:srgbClr val="28A745"/>
                </a:solidFill>
              </a:rPr>
              <a:t>Construct an indexed SQLite knowledge base of 4,442 verified news domains based on MBFC ratings, delivering sub-millisecond (&lt;1ms) lookups and institutional TLD fallbacks (.gov, .edu). [COMPLETED]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02C57"/>
                </a:solidFill>
              </a:rPr>
              <a:t>Objective 3 -- Multi-Source Evidence Retrieval: </a:t>
            </a:r>
            <a:r>
              <a:rPr sz="1200">
                <a:solidFill>
                  <a:srgbClr val="28A745"/>
                </a:solidFill>
              </a:rPr>
              <a:t>Integrate NewsAPI and GNews API to programmatically retrieve a balanced corroboration pool of 5-10 contemporary reporting sources per claim. [COMPLETED]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02C57"/>
                </a:solidFill>
              </a:rPr>
              <a:t>Objective 4 -- RoBERTa-MNLI Cross-Source Corroboration: </a:t>
            </a:r>
            <a:r>
              <a:rPr sz="1200">
                <a:solidFill>
                  <a:srgbClr val="212529"/>
                </a:solidFill>
              </a:rPr>
              <a:t>Implement a Natural Language Inference pipeline to classify pairwise claim-evidence relationships into Entailment (+1), Contradiction (-1), and Neutral (0) stance signals. [SCHEDULED]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02C57"/>
                </a:solidFill>
              </a:rPr>
              <a:t>Objective 5 -- Manipulation &amp; Clickbait Indexing: </a:t>
            </a:r>
            <a:r>
              <a:rPr sz="1200">
                <a:solidFill>
                  <a:srgbClr val="28A745"/>
                </a:solidFill>
              </a:rPr>
              <a:t>Build a lexical and stylistic analyzer utilizing 109 trigger patterns to evaluate sensationalism, emotional panic, and structural formatting manipulation (0-100 scale). [COMPLETED]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02C57"/>
                </a:solidFill>
              </a:rPr>
              <a:t>Objective 6 -- Unified Aggregation Engine &amp; User Interface: </a:t>
            </a:r>
            <a:r>
              <a:rPr sz="1200">
                <a:solidFill>
                  <a:srgbClr val="28A745"/>
                </a:solidFill>
              </a:rPr>
              <a:t>Deploy the mathematical multi-factor scoring formula in an interactive Streamlit web dashboard presenting transparent evidence cards. [COMPLETED - 50% MILESTONE]</a:t>
            </a: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Existing Methods and Drawbacks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7899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  <a:gridCol w="5303520"/>
              </a:tblGrid>
              <a:tr h="10241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Existing Approach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Working Principle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Critical Drawbacks &amp; Limitations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1. Single-Text NLP Classifiers</a:t>
                      </a:r>
                    </a:p>
                    <a:p>
                      <a:r>
                        <a:t>(BERT / SVM / LSTM)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Evaluates the input article in isolation based solely on writing style, sentiment, and keywords.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High False Positives: Fails when misinformation is written in formal, professional journalistic tone. Overfits to topic keywords rather than factuality (Baly et al., ACL 2020).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2. Static Domain Blacklisting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Maintains an ad-hoc blacklist of known fake news and conspiracy website URLs.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Zero-Day Vulnerability: Useless against newly registered domains, clone sites, or misinformation published on legitimate platforms (blogs/forums).</a:t>
                      </a:r>
                    </a:p>
                  </a:txBody>
                  <a:tcPr marL="73152" marR="73152" marT="45720" marB="45720" anchor="ctr"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3. Manual Human Fact-Checking</a:t>
                      </a:r>
                    </a:p>
                    <a:p>
                      <a:r>
                        <a:t>(Snopes, PolitiFact)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Expert fact-checkers manually research claims and publish debunking articles.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Severe Latency Bottleneck: Takes hours to days per claim. Ineffective against viral misinformation spreading across millions of feeds in minutes.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4. Shallow Keyword Matching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Searches Google/News for shared keywords between articles.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Semantic Blindness: Cannot differentiate whether the other article agrees, refutes, or merely mentions the topic in a different context. Semantic NLI is strictly required.</a:t>
                      </a:r>
                    </a:p>
                  </a:txBody>
                  <a:tcPr marL="73152" marR="73152" marT="45720" marB="4572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Proposed Method &amp; Feasibility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400">
                <a:solidFill>
                  <a:srgbClr val="102C57"/>
                </a:solidFill>
              </a:rPr>
              <a:t>Proposed Innovation -- Multi-Factor Cross-Source Corroboration: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529"/>
                </a:solidFill>
              </a:rPr>
              <a:t>Instead of trusting the article's text, TruthLens verifies the claim against the global consensus of independent reputable outlets:
Formula: Credibility Score C = 0.70 * [ Evidence_Score ] + 0.30 * Source_Origin_Score - (0.25 * Manipulation_Index)
Where Evidence_Score = sum(Source_Reputation_Weight * NLI_Agreement_Signal) / sum(Source_Reputation_Weight)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3565A9"/>
                </a:solidFill>
              </a:rPr>
              <a:t>1. Technical Feasibility: </a:t>
            </a:r>
            <a:r>
              <a:rPr sz="1200">
                <a:solidFill>
                  <a:srgbClr val="212529"/>
                </a:solidFill>
              </a:rPr>
              <a:t>Pretrained RoBERTa-MNLI achieves 90%+ zero-shot NLI accuracy without expensive re-training. SQLite provides &lt;0.02ms indexed lookups locally.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3565A9"/>
                </a:solidFill>
              </a:rPr>
              <a:t>2. Economic / Cost Feasibility ($0 Cost): </a:t>
            </a:r>
            <a:r>
              <a:rPr sz="1200">
                <a:solidFill>
                  <a:srgbClr val="212529"/>
                </a:solidFill>
              </a:rPr>
              <a:t>Uses free developer tiers of NewsAPI (100 req/day) &amp; GNews API. RoBERTa runs locally with zero cloud API billing.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3565A9"/>
                </a:solidFill>
              </a:rPr>
              <a:t>3. Computational Feasibility: </a:t>
            </a:r>
            <a:r>
              <a:rPr sz="1200">
                <a:solidFill>
                  <a:srgbClr val="212529"/>
                </a:solidFill>
              </a:rPr>
              <a:t>GPU inference takes &lt;50ms per pair (&lt;250ms on CPU). Limiting evidence to top 5 sentences guarantees &lt;4s end-to-end latency.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3565A9"/>
                </a:solidFill>
              </a:rPr>
              <a:t>4. Resource Availability: </a:t>
            </a:r>
            <a:r>
              <a:rPr sz="1200">
                <a:solidFill>
                  <a:srgbClr val="212529"/>
                </a:solidFill>
              </a:rPr>
              <a:t>Idiap research corpus (4,400+ domains), Hugging Face model hub, and standard open-source Python libraries are fully accessible.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System Architecture Diagram (50% Milestone State)</a:t>
            </a:r>
          </a:p>
        </p:txBody>
      </p:sp>
      <p:pic>
        <p:nvPicPr>
          <p:cNvPr id="3" name="Picture 2" descr="fig3_1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234440"/>
            <a:ext cx="10725912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System Modules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102C57"/>
                </a:solidFill>
              </a:rPr>
              <a:t>Module 1 -- Article Ingestion &amp; Web Scraper: </a:t>
            </a:r>
            <a:r>
              <a:rPr sz="1200">
                <a:solidFill>
                  <a:srgbClr val="212529"/>
                </a:solidFill>
              </a:rPr>
              <a:t>Parses news URLs, strips HTML boilerplate, extracts clean headline and body text, and identifies publisher domain.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02C57"/>
                </a:solidFill>
              </a:rPr>
              <a:t>Module 2 -- Factual Claim Extractor: </a:t>
            </a:r>
            <a:r>
              <a:rPr sz="1200">
                <a:solidFill>
                  <a:srgbClr val="212529"/>
                </a:solidFill>
              </a:rPr>
              <a:t>Applies Named Entity Recognition (NER) and syntactic heuristics to identify checkable factual assertions from subjective opinion sentences. [Phase 4]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8A745"/>
                </a:solidFill>
              </a:rPr>
              <a:t>Module 3 -- Evidence Retrieval Engine [Phase 3 - DONE]: </a:t>
            </a:r>
            <a:r>
              <a:rPr sz="1200">
                <a:solidFill>
                  <a:srgbClr val="212529"/>
                </a:solidFill>
              </a:rPr>
              <a:t>Constructs targeted search queries from claims and fetches 5-10 contemporary articles from NewsAPI &amp; GNews API.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8A745"/>
                </a:solidFill>
              </a:rPr>
              <a:t>Module 4 -- MBFC Source Reputation Database [Phase 2 - DONE]: </a:t>
            </a:r>
            <a:r>
              <a:rPr sz="1200">
                <a:solidFill>
                  <a:srgbClr val="212529"/>
                </a:solidFill>
              </a:rPr>
              <a:t>Queries an indexed SQLite database of 4,442 news outlets; applies canonical domain matching and assigns reliability weights (W_rep).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8A745"/>
                </a:solidFill>
              </a:rPr>
              <a:t>Module 5 -- RoBERTa-MNLI &amp; Manipulation Engine [5A: Phase 4, 5B: DONE]: </a:t>
            </a:r>
            <a:r>
              <a:rPr sz="1200">
                <a:solidFill>
                  <a:srgbClr val="212529"/>
                </a:solidFill>
              </a:rPr>
              <a:t>Submodule 5A evaluates semantic stance (Agree/Disagree); Submodule 5B scans for 109 clickbait/panic triggers.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8A745"/>
                </a:solidFill>
              </a:rPr>
              <a:t>Module 6 -- Score Aggregation &amp; Web Dashboard [Phase 3 - DONE]: </a:t>
            </a:r>
            <a:r>
              <a:rPr sz="1200">
                <a:solidFill>
                  <a:srgbClr val="212529"/>
                </a:solidFill>
              </a:rPr>
              <a:t>Computes credibility metrics and renders the interactive Streamlit user dashboard with evidence cards.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Phase 3 Core Achievements (50% Milestone)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50"/>
              </a:spcAft>
            </a:pPr>
            <a:r>
              <a:rPr b="1" sz="1100">
                <a:solidFill>
                  <a:srgbClr val="102C57"/>
                </a:solidFill>
              </a:rPr>
              <a:t>1. Live Multi-Source News Retrieval (NewsAPI):
</a:t>
            </a:r>
            <a:r>
              <a:rPr sz="1000">
                <a:solidFill>
                  <a:srgbClr val="212529"/>
                </a:solidFill>
              </a:rPr>
              <a:t>Live NewsAPI querying across 80,000+ publications to construct an independent corroboration pool with publisher trust ratings.
</a:t>
            </a:r>
          </a:p>
          <a:p>
            <a:pPr>
              <a:spcAft>
                <a:spcPts val="250"/>
              </a:spcAft>
            </a:pPr>
            <a:r>
              <a:rPr b="1" sz="1100">
                <a:solidFill>
                  <a:srgbClr val="102C57"/>
                </a:solidFill>
              </a:rPr>
              <a:t>2. Interactive Streamlit Dashboard:
</a:t>
            </a:r>
            <a:r>
              <a:rPr sz="1000">
                <a:solidFill>
                  <a:srgbClr val="212529"/>
                </a:solidFill>
              </a:rPr>
              <a:t>Evaluator authentication, URL inspector, text manipulation scanner with highlight spans, and live claim cross-search.
</a:t>
            </a:r>
          </a:p>
          <a:p>
            <a:pPr>
              <a:spcAft>
                <a:spcPts val="250"/>
              </a:spcAft>
            </a:pPr>
            <a:r>
              <a:rPr b="1" sz="1100">
                <a:solidFill>
                  <a:srgbClr val="102C57"/>
                </a:solidFill>
              </a:rPr>
              <a:t>3. 4,442 Media Outlet Knowledge Base:
</a:t>
            </a:r>
            <a:r>
              <a:rPr sz="1000">
                <a:solidFill>
                  <a:srgbClr val="212529"/>
                </a:solidFill>
              </a:rPr>
              <a:t>Indexed SQLite catalog with search and filtering for factuality, bias, and satire flags.
</a:t>
            </a:r>
          </a:p>
          <a:p>
            <a:pPr>
              <a:spcAft>
                <a:spcPts val="250"/>
              </a:spcAft>
            </a:pPr>
            <a:r>
              <a:rPr b="1" sz="1100">
                <a:solidFill>
                  <a:srgbClr val="102C57"/>
                </a:solidFill>
              </a:rPr>
              <a:t>4. Automated QA (16/16 Unit Tests):
</a:t>
            </a:r>
            <a:r>
              <a:rPr sz="1000">
                <a:solidFill>
                  <a:srgbClr val="212529"/>
                </a:solidFill>
              </a:rPr>
              <a:t>100% pytest pass rate covering domain resolution, lexical triggers, and retrieval.
</a:t>
            </a:r>
          </a:p>
          <a:p>
            <a:pPr>
              <a:spcAft>
                <a:spcPts val="250"/>
              </a:spcAft>
            </a:pPr>
            <a:r>
              <a:rPr b="1" sz="1100">
                <a:solidFill>
                  <a:srgbClr val="102C57"/>
                </a:solidFill>
              </a:rPr>
              <a:t>5. 1-Click Desktop Launcher:
</a:t>
            </a:r>
            <a:r>
              <a:rPr sz="1000">
                <a:solidFill>
                  <a:srgbClr val="212529"/>
                </a:solidFill>
              </a:rPr>
              <a:t>`Run_TruthLens.bat` for instant faculty demonstration.
</a:t>
            </a:r>
          </a:p>
        </p:txBody>
      </p:sp>
      <p:pic>
        <p:nvPicPr>
          <p:cNvPr id="4" name="Picture 3" descr="fig6_2_streamlit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12064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50% Completed vs Remaining 50% Engineering Division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7899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89120"/>
                <a:gridCol w="4389120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Dimension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First 50% (Phases 1, 2 &amp; 3) -- COMPLETED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Remaining 50% (Phases 4 &amp; 5) -- SCHEDULED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Core Focus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Data Infrastructure, Reputation Database, Live Retrieval &amp; UI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Deep Learning NLI Model, Semantic Stance &amp; Score Fusion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Source Reputation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SQLite DB of 4,442 media outlets with &lt;0.02ms query speed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Dynamic weighting based on cross-source consensus convergence</a:t>
                      </a:r>
                    </a:p>
                  </a:txBody>
                  <a:tcPr marL="73152" marR="73152" marT="45720" marB="45720" anchor="ctr"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Text Analysis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109 lexical trigger scanner for clickbait and emotional panic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Automated NER factual claim extraction from 1,000+ word articles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Evidence Search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Live NewsAPI retrieval pulling 5-10 corroboration articles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Sentence-level semantic similarity filtering (Top-5 sentences)</a:t>
                      </a:r>
                    </a:p>
                  </a:txBody>
                  <a:tcPr marL="73152" marR="73152" marT="45720" marB="45720" anchor="ctr"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AI Fact-Checking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Staging and architectural design of inference pipeline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RoBERTa-MNLI model execution: Entailment vs. Contradiction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User Interface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Streamlit Web Portal with Login, 3 Tabs &amp; Media Directory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Production FastAPI REST API and final executive reporting cards</a:t>
                      </a:r>
                    </a:p>
                  </a:txBody>
                  <a:tcPr marL="73152" marR="73152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Project Timeline &amp; 5-Phase Gantt Chart</a:t>
            </a:r>
          </a:p>
        </p:txBody>
      </p:sp>
      <p:pic>
        <p:nvPicPr>
          <p:cNvPr id="3" name="Picture 2" descr="fig4_1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5912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Team Member Contribution Matrix (Review 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7899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4389120"/>
                <a:gridCol w="2743200"/>
              </a:tblGrid>
              <a:tr h="102412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Roll Number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Team Member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Review 3 (50% Milestone) Core Deliverables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Upcoming Phase Focus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20231CAI0046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Shubham Pandey</a:t>
                      </a:r>
                    </a:p>
                    <a:p>
                      <a:r>
                        <a:t>(Team Leader)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Engineered canonical domain resolver (&lt;0.02ms), SQLite database of 4,442 news outlets, and end-to-end system integration.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Unified mathematical score aggregation engine ($C_{final}$) &amp; REST API.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20231CAI0006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Ikram Inayathulla Khan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Engineered 109-trigger lexical manipulation engine, sensationalism/panic analyzer, and in-line word highlighting generator.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Automated factual claim extraction module (NER &amp; syntactic parsing).</a:t>
                      </a:r>
                    </a:p>
                  </a:txBody>
                  <a:tcPr marL="73152" marR="73152" marT="45720" marB="45720" anchor="ctr"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20231CAI0003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Karanam Radha Pranathi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Engineered live NewsAPI &amp; GNews retrieval pipeline, evidence pool builder, and ground-truth verification benchmark datasets.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Sentence-level semantic evidence ranking &amp; retrieval threshold tuning.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20231CAI0068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Bhagyesh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Developed interactive Streamlit web application, evaluator authentication portal, UI styling, and RoBERTa-MNLI model environment.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RoBERTa-MNLI pairwise stance classification pipeline (Agree / Disagree).</a:t>
                      </a:r>
                    </a:p>
                  </a:txBody>
                  <a:tcPr marL="73152" marR="73152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References (IEEE Format)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[1] S. Vosoughi, D. Roy, and S. Aral, "The spread of true and false news online," Science, vol. 359, no. 6380, pp. 1146-1151, Mar. 2018.</a:t>
            </a:r>
          </a:p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[2] J. Thorne, A. Vlachos, C. Christodoulopoulos, and A. Mittal, "FEVER: a large-scale dataset for Fact Extraction and VERification," in Proc. NAACL-HLT 2018, pp. 809-819.</a:t>
            </a:r>
          </a:p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[3] R. Baly, G. Karadzhov, D. Alexandrov, J. Glass, and P. Nakov, "Predicting factuality of reporting and bias of news media sources," in Proc. EMNLP 2018, pp. 3528-3539.</a:t>
            </a:r>
          </a:p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[4] Y. Liu, M. Ott, N. Goyal, J. Du, M. Joshi, D. Chen, O. Levy, M. Lewis, L. Zettlemoyer, and V. Stoyanov, "RoBERTa: A Robustly Optimized BERT Pretraining Approach," arXiv:1907.11692, 2019.</a:t>
            </a:r>
          </a:p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[5] W. Y. Wang, ""Liar, Liar Pants on Fire": A New Benchmark Dataset for Fake News Detection," in Proc. ACL 2017, pp. 422-426.</a:t>
            </a:r>
          </a:p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[6] K. Shu, A. Sliva, S. Wang, J. Tang, and H. Liu, "Fake News Detection on Social Media: A Data Mining Perspective," ACM SIGKDD Explorations Newsletter, vol. 19, no. 1, pp. 22-36, 2017.</a:t>
            </a:r>
          </a:p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[7] R. Baly et al., "We Can Detect Fake News with High Accuracy, but What Did We Learn? A Quantitative and Qualitative Analysis," in Proc. ACL 2020, pp. 5182-5197.</a:t>
            </a:r>
          </a:p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[8] A. Hanselowski, H. P. Ji, V. Stoyanov, and I. Gurevych, "A Retrospective Analysis of the Fake News Challenge Stance-Detection Task," in Proc. COLING 2018, pp. 1859-1874.</a:t>
            </a:r>
          </a:p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[9] B. D. Horne and S. Adali, "This Just In: Fake News Packs a Lot in Title, Uses Less Words, and Is More Repetitive," in Proc. AAAI ICWSM 2017, pp. 759-766.</a:t>
            </a:r>
          </a:p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[10] R. Aly et al., "FEVEROUS: Fact Extraction and VERification Over Unstructured and Structured information," in NeurIPS, vol. 34, 2021, pp. 25674-25687.</a:t>
            </a:r>
          </a:p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[11] M. Hardalov, A. Arora, P. Nakov, and I. Augenstein, "A Survey on Stance Detection for Mis- and Disinformation Identification," in Findings of NAACL 2022, pp. 1259-1277.</a:t>
            </a:r>
          </a:p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[12] J. Norregaard, B. D. Horne, and S. Adali, "NELA-GT-2018: A Large Multi-Labelled News Dataset for The Study of Misinformation in News Articles," in Proc. AAAI ICWSM 2019, pp. 630-638.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A2C149D477E4E814B4B477F0E243C" ma:contentTypeVersion="13" ma:contentTypeDescription="Create a new document." ma:contentTypeScope="" ma:versionID="89242249e9f2fc9f35c8ac40d1749aa8">
  <xsd:schema xmlns:xsd="http://www.w3.org/2001/XMLSchema" xmlns:xs="http://www.w3.org/2001/XMLSchema" xmlns:p="http://schemas.microsoft.com/office/2006/metadata/properties" xmlns:ns2="ed62f681-7444-4666-891e-c71d42de2ddf" xmlns:ns3="b8676f30-e579-463a-a8aa-821338b00374" targetNamespace="http://schemas.microsoft.com/office/2006/metadata/properties" ma:root="true" ma:fieldsID="a661edb3eb918c130b5b038713d75e6b" ns2:_="" ns3:_="">
    <xsd:import namespace="ed62f681-7444-4666-891e-c71d42de2ddf"/>
    <xsd:import namespace="b8676f30-e579-463a-a8aa-821338b003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76f30-e579-463a-a8aa-821338b0037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08d022-328e-4f53-b2cf-c730c7a35dee}" ma:internalName="TaxCatchAll" ma:showField="CatchAllData" ma:web="b8676f30-e579-463a-a8aa-821338b003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62f681-7444-4666-891e-c71d42de2ddf">
      <Terms xmlns="http://schemas.microsoft.com/office/infopath/2007/PartnerControls"/>
    </lcf76f155ced4ddcb4097134ff3c332f>
    <TaxCatchAll xmlns="b8676f30-e579-463a-a8aa-821338b0037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0799BD1-F224-430F-A4F0-5AAD34602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62f681-7444-4666-891e-c71d42de2ddf"/>
    <ds:schemaRef ds:uri="b8676f30-e579-463a-a8aa-821338b003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31A4896-B9C1-4471-B691-16FF8CBFF7E9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b8676f30-e579-463a-a8aa-821338b00374"/>
    <ds:schemaRef ds:uri="ed62f681-7444-4666-891e-c71d42de2ddf"/>
  </ds:schemaRefs>
</ds:datastoreItem>
</file>

<file path=customXml/itemProps3.xml><?xml version="1.0" encoding="utf-8"?>
<ds:datastoreItem xmlns:ds="http://schemas.openxmlformats.org/officeDocument/2006/customXml" ds:itemID="{13D2043A-A905-44DC-A627-E0BB4B1558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703</Words>
  <Application>Microsoft Office PowerPoint</Application>
  <PresentationFormat>Widescreen</PresentationFormat>
  <Paragraphs>101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Cambria</vt:lpstr>
      <vt:lpstr>Verdana</vt:lpstr>
      <vt:lpstr>Wingdings</vt:lpstr>
      <vt:lpstr>Bioinformatics</vt:lpstr>
      <vt:lpstr>PowerPoint Presentation</vt:lpstr>
      <vt:lpstr>AI-Powered News Credibility Scorer</vt:lpstr>
      <vt:lpstr>Content</vt:lpstr>
      <vt:lpstr>Problem Statement Number: PSAIAC_61</vt:lpstr>
      <vt:lpstr>Github Link</vt:lpstr>
      <vt:lpstr>Analysis of Problem Statement</vt:lpstr>
      <vt:lpstr>Analysis of Problem Statement (contd...)</vt:lpstr>
      <vt:lpstr>Analysis of Problem Statement (contd...)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Shubham Pandey</cp:lastModifiedBy>
  <cp:revision>40</cp:revision>
  <dcterms:modified xsi:type="dcterms:W3CDTF">2026-08-07T07:00:46Z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</Properties>
</file>